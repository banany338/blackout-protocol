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7d903af23c4806" /><Relationship Type="http://schemas.openxmlformats.org/officeDocument/2006/relationships/extended-properties" Target="/docProps/app.xml" Id="R3c0db6706b9441cc" /><Relationship Type="http://schemas.openxmlformats.org/officeDocument/2006/relationships/officeDocument" Target="/ppt/presentation.xml" Id="R75ce297b74cc42b8" /></Relationships>
</file>

<file path=ppt/presentation.xml><?xml version="1.0" encoding="utf-8"?>
<p:presentation xmlns:p="http://schemas.openxmlformats.org/presentationml/2006/main">
  <p:sldMasterIdLst>
    <p:sldMasterId xmlns:r="http://schemas.openxmlformats.org/officeDocument/2006/relationships" id="2147483648" r:id="R777bb9b90bc14023"/>
  </p:sldMasterIdLst>
  <p:notesMasterIdLst>
    <p:notesMasterId xmlns:r="http://schemas.openxmlformats.org/officeDocument/2006/relationships" r:id="Rd02239148b31479a"/>
  </p:notesMasterIdLst>
  <p:sldIdLst>
    <p:sldId xmlns:r="http://schemas.openxmlformats.org/officeDocument/2006/relationships" id="256" r:id="R9d7d605b76ad4a93"/>
    <p:sldId xmlns:r="http://schemas.openxmlformats.org/officeDocument/2006/relationships" id="257" r:id="R30d6b3e9c7584750"/>
    <p:sldId xmlns:r="http://schemas.openxmlformats.org/officeDocument/2006/relationships" id="258" r:id="R64b49643c8a64777"/>
    <p:sldId xmlns:r="http://schemas.openxmlformats.org/officeDocument/2006/relationships" id="259" r:id="R0435d9e61d00447c"/>
    <p:sldId xmlns:r="http://schemas.openxmlformats.org/officeDocument/2006/relationships" id="260" r:id="R0afdfb155b3342d9"/>
    <p:sldId xmlns:r="http://schemas.openxmlformats.org/officeDocument/2006/relationships" id="261" r:id="Rcb14739dca004d7c"/>
    <p:sldId xmlns:r="http://schemas.openxmlformats.org/officeDocument/2006/relationships" id="262" r:id="R046c0d5a9d564a91"/>
    <p:sldId xmlns:r="http://schemas.openxmlformats.org/officeDocument/2006/relationships" id="263" r:id="Raeb9562d2c4144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84d57c2ab94b22" /><Relationship Type="http://schemas.openxmlformats.org/officeDocument/2006/relationships/slideMaster" Target="/ppt/slideMasters/slideMaster1.xml" Id="R777bb9b90bc14023" /><Relationship Type="http://schemas.openxmlformats.org/officeDocument/2006/relationships/notesMaster" Target="/ppt/notesMasters/notesMaster1.xml" Id="Rd02239148b31479a" /><Relationship Type="http://schemas.openxmlformats.org/officeDocument/2006/relationships/presProps" Target="/ppt/presProps.xml" Id="Red0be832591c4c92" /><Relationship Type="http://schemas.openxmlformats.org/officeDocument/2006/relationships/tableStyles" Target="/ppt/tableStyles.xml" Id="R8f2b1a2f45e54446" /><Relationship Type="http://schemas.openxmlformats.org/officeDocument/2006/relationships/slide" Target="/ppt/slides/slide1.xml" Id="R9d7d605b76ad4a93" /><Relationship Type="http://schemas.openxmlformats.org/officeDocument/2006/relationships/slide" Target="/ppt/slides/slide2.xml" Id="R30d6b3e9c7584750" /><Relationship Type="http://schemas.openxmlformats.org/officeDocument/2006/relationships/slide" Target="/ppt/slides/slide3.xml" Id="R64b49643c8a64777" /><Relationship Type="http://schemas.openxmlformats.org/officeDocument/2006/relationships/slide" Target="/ppt/slides/slide4.xml" Id="R0435d9e61d00447c" /><Relationship Type="http://schemas.openxmlformats.org/officeDocument/2006/relationships/slide" Target="/ppt/slides/slide5.xml" Id="R0afdfb155b3342d9" /><Relationship Type="http://schemas.openxmlformats.org/officeDocument/2006/relationships/slide" Target="/ppt/slides/slide6.xml" Id="Rcb14739dca004d7c" /><Relationship Type="http://schemas.openxmlformats.org/officeDocument/2006/relationships/slide" Target="/ppt/slides/slide7.xml" Id="R046c0d5a9d564a91" /><Relationship Type="http://schemas.openxmlformats.org/officeDocument/2006/relationships/slide" Target="/ppt/slides/slide8.xml" Id="Raeb9562d2c4144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b0ec5e9b2c41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44f2c12b9a4e8f" /><Relationship Type="http://schemas.openxmlformats.org/officeDocument/2006/relationships/notesMaster" Target="/ppt/notesMasters/notesMaster1.xml" Id="R909d712e07f042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f29ed8a59f4341" /><Relationship Type="http://schemas.openxmlformats.org/officeDocument/2006/relationships/notesMaster" Target="/ppt/notesMasters/notesMaster1.xml" Id="Rcb5b5f744b7148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dea1520c594ee1" /><Relationship Type="http://schemas.openxmlformats.org/officeDocument/2006/relationships/notesMaster" Target="/ppt/notesMasters/notesMaster1.xml" Id="Re2427dc1be7741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3afdf0d70f4fad" /><Relationship Type="http://schemas.openxmlformats.org/officeDocument/2006/relationships/notesMaster" Target="/ppt/notesMasters/notesMaster1.xml" Id="R5ddde080411749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46d9ac9b704298" /><Relationship Type="http://schemas.openxmlformats.org/officeDocument/2006/relationships/notesMaster" Target="/ppt/notesMasters/notesMaster1.xml" Id="Rd4711b57720b46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4fa765e5ec48b8" /><Relationship Type="http://schemas.openxmlformats.org/officeDocument/2006/relationships/notesMaster" Target="/ppt/notesMasters/notesMaster1.xml" Id="R57cc486e6768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1afafc3f6416c" /><Relationship Type="http://schemas.openxmlformats.org/officeDocument/2006/relationships/notesMaster" Target="/ppt/notesMasters/notesMaster1.xml" Id="R91ef3933e95147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2c747e6d234043" /><Relationship Type="http://schemas.openxmlformats.org/officeDocument/2006/relationships/notesMaster" Target="/ppt/notesMasters/notesMaster1.xml" Id="Re9dfc67f3c8942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BLACKOUT PROTOCOL helps small teams prepare for losing access to a shared account. Our question is simple: if the main account disappears, can the organisation still work? This presentation shows implemented features using illustrative Community Library data. Team names and member names are omitted at the user's request. Source: project README and docs/USER_GUIDE.md.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0:20–0:42. Think of a student club or volunteer organisation. Its files, website or channel may depend on the same email or person. Recovery can depend on that missing account too. BLACKOUT makes those declared connections visible before a real incident. This is a conditional problem, not a claim that every organisation has this setup. Source: agreed product purpose in docs/PROJECT_UPDATES.md and the Defence challenge brief. No market statistics or live provider discovery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 Add one service, its owner and any known recovery options. Details stay collapsed until needed. The app creates a map showing resources, accounts and essential work. Users supply their actual arrangements, or import a local Google Directory users.list export and review it. Unknown recovery methods remain unconfirmed. The screenshot shows the implemented direct editor using example data. Source: apps/web/planner/ServiceEditor.tsx and docs/USER_GUIDE.md. Screenshot: docs/screenshots/add-service.png.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1:05–1:30. Choose an unavailable account, phone, backup or person. The same map shows consequences for essential work, possible recovery routes and missing prerequisites. In this QA example, team email and its independent backup are both unavailable: one of three activities remains working, while two lack a confirmed route. No real account is locked or contacted. The engine uses declared dependencies and evidence; unknown methods do not count as working recovery routes. Source: docs/VALIDATION.md, packages/planner/analysis.ts and screenshot docs/screenshots/three-services.png.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1:30–1:55. Evaluate an independent fallback against the same failure. Saving it creates a separate proposed plan, preserving the current arrangement. The proposal assumes the preparation has been implemented. The owner still has to configure and check it with the real provider. Record that preparation as an owned action in Next steps. Completing a task does not automatically verify a recovery method. The screenshot demonstrates a separately labelled proposal for the Library email. Source: docs/USER_GUIDE.md, packages/planner/analysis.ts, apps/web/planner/BlackoutCheck.tsx. Screenshot: docs/screenshots/dependency-map.png.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1:55–2:20. Create a team check from the same map after reviewing exactly which metadata is shared. Participants wait for approval, then receive account responsibilities. A missing prerequisite blocks a simulated step. The host can add responsibilities, finish the check and download a summary. Participants see accepted actions update the shared map. This does not execute provider recovery. Shared metadata is plaintext on the trusted local server, separate from the encrypted private workspace. Screenshot: docs/screenshots/own-team-running.png. Sources: apps/web/OrganisationRoom.tsx, docs/VALIDATION.md and docs/USER_GUIDE.md.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2:20–2:45. The useful outputs are a readable HTML recovery reference, an encrypted workspace backup and assigned preparation actions. Cached private planning is tested offline; team rooms need the local server. The current version passes 41 unit/integration tests and 9 browser journeys, including host plus three independent participant profiles. Those checks do not establish real provider recovery, production security or physical offline LAN use. The portable HTML builds, but direct file execution still needs validation. Sources: docs/VALIDATION.md, README.md and scripts/build-delivery.mjs. AI assistance was used for design, code, tests and documentation. The running app uses deterministic rules and needs no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 BLACKOUT connects account dependencies to a practical improvement: a route to prepare and a person responsible for it. Demonstrate one loss and one independent proposal, then show the exported plan. Repository: https://github.com/banany338/BLACKOUT-PROTOCOL . Built with React, TypeScript, React Flow, Fastify, Socket.IO, Zod, Node SQLite, Lucide and noble hashes. AI assistance was used for design, implementation, tests, documentation and these materials. It is disclosed here and in README.md. No competition outcome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a144b26f0746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7860c16326467b" /><Relationship Type="http://schemas.openxmlformats.org/officeDocument/2006/relationships/slideLayout" Target="/ppt/slideLayouts/slideLayout1.xml" Id="R30c30406d63849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c30406d63849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557ed6a17647fa" /><Relationship Type="http://schemas.openxmlformats.org/officeDocument/2006/relationships/notesSlide" Target="/ppt/notesSlides/notesSlide1.xml" Id="Re15fc33f998542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d067c19bbd4818" /><Relationship Type="http://schemas.openxmlformats.org/officeDocument/2006/relationships/notesSlide" Target="/ppt/notesSlides/notesSlide2.xml" Id="R0564fe02a37548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bb1d4d5af84321" /><Relationship Type="http://schemas.openxmlformats.org/officeDocument/2006/relationships/image" Target="/ppt/media/image.png" Id="R5f2845094f684288" /><Relationship Type="http://schemas.openxmlformats.org/officeDocument/2006/relationships/notesSlide" Target="/ppt/notesSlides/notesSlide3.xml" Id="Rba53bbd04dc84a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200a2586a74099" /><Relationship Type="http://schemas.openxmlformats.org/officeDocument/2006/relationships/image" Target="/ppt/media/image2.png" Id="R20a50ffc1a9f4524" /><Relationship Type="http://schemas.openxmlformats.org/officeDocument/2006/relationships/notesSlide" Target="/ppt/notesSlides/notesSlide4.xml" Id="R8e4f8036a2154f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14ac695d9347ea" /><Relationship Type="http://schemas.openxmlformats.org/officeDocument/2006/relationships/image" Target="/ppt/media/image3.png" Id="R0873c970c0c24381" /><Relationship Type="http://schemas.openxmlformats.org/officeDocument/2006/relationships/notesSlide" Target="/ppt/notesSlides/notesSlide5.xml" Id="Rdb99ed09f4c34b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0ad8e0136e4bb2" /><Relationship Type="http://schemas.openxmlformats.org/officeDocument/2006/relationships/image" Target="/ppt/media/image4.png" Id="R0287169ccb27438f" /><Relationship Type="http://schemas.openxmlformats.org/officeDocument/2006/relationships/notesSlide" Target="/ppt/notesSlides/notesSlide6.xml" Id="R1fb4af26bc8449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cb1ad2a10340dd" /><Relationship Type="http://schemas.openxmlformats.org/officeDocument/2006/relationships/notesSlide" Target="/ppt/notesSlides/notesSlide7.xml" Id="R0c249b0dca4444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6e70a8096846b7" /><Relationship Type="http://schemas.openxmlformats.org/officeDocument/2006/relationships/hyperlink" Target="https://github.com/banany338/BLACKOUT-PROTOCOL" TargetMode="External" Id="R53a644d3acd4422a" /><Relationship Type="http://schemas.openxmlformats.org/officeDocument/2006/relationships/notesSlide" Target="/ppt/notesSlides/notesSlide8.xml" Id="R2038a3a08da74aba" /></Relationships>
</file>

<file path=ppt/slides/slide1.xml><?xml version="1.0" encoding="utf-8"?>
<p:sld xmlns:p="http://schemas.openxmlformats.org/presentationml/2006/main">
  <p:cSld>
    <p:bg>
      <p:bgPr>
        <a:solidFill xmlns:a="http://schemas.openxmlformats.org/drawingml/2006/main">
          <a:srgbClr val="1920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37F54E-3706-49E6-92EC-63318F1DFFD6}"/>
              </a:ext>
            </a:extLst>
          </p:cNvPr>
          <p:cNvSpPr>
            <a:spLocks xmlns:a="http://schemas.openxmlformats.org/drawingml/2006/main" noGrp="1"/>
          </p:cNvSpPr>
          <p:nvPr/>
        </p:nvSpPr>
        <p:spPr>
          <a:xfrm xmlns:a="http://schemas.openxmlformats.org/drawingml/2006/main">
            <a:off x="609600" y="495300"/>
            <a:ext cx="95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EA7961"/>
                </a:solidFill>
                <a:latin typeface="Helvetica Neue"/>
                <a:ea typeface="Helvetica Neue"/>
                <a:cs typeface="Helvetica Neue"/>
              </a:defRPr>
            </a:pPr>
            <a:r>
              <a:rPr sz="6600" b="1">
                <a:solidFill>
                  <a:srgbClr val="EA7961"/>
                </a:solidFill>
                <a:latin typeface="Helvetica Neue"/>
                <a:ea typeface="Helvetica Neue"/>
                <a:cs typeface="Helvetica Neue"/>
              </a:rPr>
              <a:t>b</a:t>
            </a:r>
          </a:p>
        </p:txBody>
      </p:sp>
      <p:sp>
        <p:nvSpPr>
          <p:cNvPr id="2" name="">
            <a:extLst xmlns:a="http://schemas.openxmlformats.org/drawingml/2006/main">
              <a:ext uri="{FF2B5EF4-FFF2-40B4-BE49-F238E27FC236}">
                <a16:creationId xmlns:a16="http://schemas.microsoft.com/office/drawing/2014/main" id="{224F61E3-1D6E-48AC-BE83-5DB9F48ACF7E}"/>
              </a:ext>
            </a:extLst>
          </p:cNvPr>
          <p:cNvSpPr>
            <a:spLocks xmlns:a="http://schemas.openxmlformats.org/drawingml/2006/main" noGrp="1"/>
          </p:cNvSpPr>
          <p:nvPr/>
        </p:nvSpPr>
        <p:spPr>
          <a:xfrm xmlns:a="http://schemas.openxmlformats.org/drawingml/2006/main">
            <a:off x="1219200" y="561975"/>
            <a:ext cx="742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75" b="1">
                <a:solidFill>
                  <a:srgbClr val="F5F5EF"/>
                </a:solidFill>
                <a:latin typeface="Helvetica Neue"/>
                <a:ea typeface="Helvetica Neue"/>
                <a:cs typeface="Helvetica Neue"/>
              </a:defRPr>
            </a:pPr>
            <a:r>
              <a:rPr sz="4875" b="1">
                <a:solidFill>
                  <a:srgbClr val="F5F5EF"/>
                </a:solidFill>
                <a:latin typeface="Helvetica Neue"/>
                <a:ea typeface="Helvetica Neue"/>
                <a:cs typeface="Helvetica Neue"/>
              </a:rPr>
              <a:t>_</a:t>
            </a:r>
          </a:p>
        </p:txBody>
      </p:sp>
      <p:sp>
        <p:nvSpPr>
          <p:cNvPr id="3" name="">
            <a:extLst xmlns:a="http://schemas.openxmlformats.org/drawingml/2006/main">
              <a:ext uri="{FF2B5EF4-FFF2-40B4-BE49-F238E27FC236}">
                <a16:creationId xmlns:a16="http://schemas.microsoft.com/office/drawing/2014/main" id="{031EF27E-84D5-4802-8E75-4CA6C263BBF3}"/>
              </a:ext>
            </a:extLst>
          </p:cNvPr>
          <p:cNvSpPr>
            <a:spLocks xmlns:a="http://schemas.openxmlformats.org/drawingml/2006/main" noGrp="1"/>
          </p:cNvSpPr>
          <p:nvPr/>
        </p:nvSpPr>
        <p:spPr>
          <a:xfrm xmlns:a="http://schemas.openxmlformats.org/drawingml/2006/main">
            <a:off x="1924050" y="62865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F5F5EF"/>
                </a:solidFill>
                <a:latin typeface="Helvetica Neue"/>
                <a:ea typeface="Helvetica Neue"/>
                <a:cs typeface="Helvetica Neue"/>
              </a:defRPr>
            </a:pPr>
            <a:r>
              <a:rPr sz="1875" b="1">
                <a:solidFill>
                  <a:srgbClr val="F5F5EF"/>
                </a:solidFill>
                <a:latin typeface="Helvetica Neue"/>
                <a:ea typeface="Helvetica Neue"/>
                <a:cs typeface="Helvetica Neue"/>
              </a:rPr>
              <a:t>BLACKOUT</a:t>
            </a:r>
          </a:p>
          <a:p xmlns:a="http://schemas.openxmlformats.org/drawingml/2006/main">
            <a:pPr>
              <a:defRPr sz="1875" b="1">
                <a:solidFill>
                  <a:srgbClr val="F5F5EF"/>
                </a:solidFill>
                <a:latin typeface="Helvetica Neue"/>
                <a:ea typeface="Helvetica Neue"/>
                <a:cs typeface="Helvetica Neue"/>
              </a:defRPr>
            </a:pPr>
            <a:r>
              <a:rPr sz="1875" b="1">
                <a:solidFill>
                  <a:srgbClr val="F5F5EF"/>
                </a:solidFill>
                <a:latin typeface="Helvetica Neue"/>
                <a:ea typeface="Helvetica Neue"/>
                <a:cs typeface="Helvetica Neue"/>
              </a:rPr>
              <a:t>PROTOCOL</a:t>
            </a:r>
          </a:p>
        </p:txBody>
      </p:sp>
      <p:sp>
        <p:nvSpPr>
          <p:cNvPr id="4" name="">
            <a:extLst xmlns:a="http://schemas.openxmlformats.org/drawingml/2006/main">
              <a:ext uri="{FF2B5EF4-FFF2-40B4-BE49-F238E27FC236}">
                <a16:creationId xmlns:a16="http://schemas.microsoft.com/office/drawing/2014/main" id="{F49256C2-296A-4786-A585-B0D2A542E35F}"/>
              </a:ext>
            </a:extLst>
          </p:cNvPr>
          <p:cNvSpPr>
            <a:spLocks xmlns:a="http://schemas.openxmlformats.org/drawingml/2006/main" noGrp="1"/>
          </p:cNvSpPr>
          <p:nvPr/>
        </p:nvSpPr>
        <p:spPr>
          <a:xfrm xmlns:a="http://schemas.openxmlformats.org/drawingml/2006/main">
            <a:off x="609600" y="210502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F5F5EF"/>
                </a:solidFill>
                <a:latin typeface="Helvetica Neue"/>
                <a:ea typeface="Helvetica Neue"/>
                <a:cs typeface="Helvetica Neue"/>
              </a:defRPr>
            </a:pPr>
            <a:r>
              <a:rPr sz="6450" b="1">
                <a:solidFill>
                  <a:srgbClr val="F5F5EF"/>
                </a:solidFill>
                <a:latin typeface="Helvetica Neue"/>
                <a:ea typeface="Helvetica Neue"/>
                <a:cs typeface="Helvetica Neue"/>
              </a:rPr>
              <a:t>Your main account</a:t>
            </a:r>
          </a:p>
          <a:p xmlns:a="http://schemas.openxmlformats.org/drawingml/2006/main">
            <a:pPr>
              <a:defRPr sz="6450" b="1">
                <a:solidFill>
                  <a:srgbClr val="F5F5EF"/>
                </a:solidFill>
                <a:latin typeface="Helvetica Neue"/>
                <a:ea typeface="Helvetica Neue"/>
                <a:cs typeface="Helvetica Neue"/>
              </a:defRPr>
            </a:pPr>
            <a:r>
              <a:rPr sz="6450" b="1">
                <a:solidFill>
                  <a:srgbClr val="F5F5EF"/>
                </a:solidFill>
                <a:latin typeface="Helvetica Neue"/>
                <a:ea typeface="Helvetica Neue"/>
                <a:cs typeface="Helvetica Neue"/>
              </a:rPr>
              <a:t>is gone.</a:t>
            </a:r>
          </a:p>
        </p:txBody>
      </p:sp>
      <p:sp>
        <p:nvSpPr>
          <p:cNvPr id="5" name="">
            <a:extLst xmlns:a="http://schemas.openxmlformats.org/drawingml/2006/main">
              <a:ext uri="{FF2B5EF4-FFF2-40B4-BE49-F238E27FC236}">
                <a16:creationId xmlns:a16="http://schemas.microsoft.com/office/drawing/2014/main" id="{FE34C0F4-6430-4902-96A1-0C6B62DEBACA}"/>
              </a:ext>
            </a:extLst>
          </p:cNvPr>
          <p:cNvSpPr>
            <a:spLocks xmlns:a="http://schemas.openxmlformats.org/drawingml/2006/main" noGrp="1"/>
          </p:cNvSpPr>
          <p:nvPr/>
        </p:nvSpPr>
        <p:spPr>
          <a:xfrm xmlns:a="http://schemas.openxmlformats.org/drawingml/2006/main">
            <a:off x="609600" y="42767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EA7961"/>
                </a:solidFill>
                <a:latin typeface="Helvetica Neue"/>
                <a:ea typeface="Helvetica Neue"/>
                <a:cs typeface="Helvetica Neue"/>
              </a:defRPr>
            </a:pPr>
            <a:r>
              <a:rPr sz="4050" b="1">
                <a:solidFill>
                  <a:srgbClr val="EA7961"/>
                </a:solidFill>
                <a:latin typeface="Helvetica Neue"/>
                <a:ea typeface="Helvetica Neue"/>
                <a:cs typeface="Helvetica Neue"/>
              </a:rPr>
              <a:t>Can your team recover?</a:t>
            </a:r>
          </a:p>
        </p:txBody>
      </p:sp>
      <p:sp>
        <p:nvSpPr>
          <p:cNvPr id="6" name="">
            <a:extLst xmlns:a="http://schemas.openxmlformats.org/drawingml/2006/main">
              <a:ext uri="{FF2B5EF4-FFF2-40B4-BE49-F238E27FC236}">
                <a16:creationId xmlns:a16="http://schemas.microsoft.com/office/drawing/2014/main" id="{329E7A33-3226-4761-A104-125DA12C1AD4}"/>
              </a:ext>
            </a:extLst>
          </p:cNvPr>
          <p:cNvSpPr>
            <a:spLocks xmlns:a="http://schemas.openxmlformats.org/drawingml/2006/main" noGrp="1"/>
          </p:cNvSpPr>
          <p:nvPr/>
        </p:nvSpPr>
        <p:spPr>
          <a:xfrm xmlns:a="http://schemas.openxmlformats.org/drawingml/2006/main">
            <a:off x="609600" y="62103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ACB7B1"/>
                </a:solidFill>
                <a:latin typeface="Helvetica Neue"/>
                <a:ea typeface="Helvetica Neue"/>
                <a:cs typeface="Helvetica Neue"/>
              </a:defRPr>
            </a:pPr>
            <a:r>
              <a:rPr sz="1425" b="0">
                <a:solidFill>
                  <a:srgbClr val="ACB7B1"/>
                </a:solidFill>
                <a:latin typeface="Helvetica Neue"/>
                <a:ea typeface="Helvetica Neue"/>
                <a:cs typeface="Helvetica Neue"/>
              </a:rPr>
              <a:t>DEFENCE CHALLENGE  /  2026</a:t>
            </a:r>
          </a:p>
        </p:txBody>
      </p:sp>
    </p:spTree>
    <p:extLst>
      <p:ext uri="{BB962C8B-B14F-4D97-AF65-F5344CB8AC3E}">
        <p14:creationId xmlns:p14="http://schemas.microsoft.com/office/powerpoint/2010/main" val="1289563368"/>
      </p:ext>
    </p:extLst>
  </p:cSld>
</p:sld>
</file>

<file path=ppt/slides/slide2.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C22E48-3BEB-4AB1-B140-17EF53195938}"/>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One account can stop essential work.</a:t>
            </a:r>
          </a:p>
        </p:txBody>
      </p:sp>
      <p:sp>
        <p:nvSpPr>
          <p:cNvPr id="2" name="">
            <a:extLst xmlns:a="http://schemas.openxmlformats.org/drawingml/2006/main">
              <a:ext uri="{FF2B5EF4-FFF2-40B4-BE49-F238E27FC236}">
                <a16:creationId xmlns:a16="http://schemas.microsoft.com/office/drawing/2014/main" id="{7FFBCD7F-0B11-4B90-85DE-4E8DF976A6E0}"/>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4C495AB9-94FF-4DF8-B5C0-94D51EDC277E}"/>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DFA59928-9CD8-4DAB-BE01-7B52E6A43E82}"/>
              </a:ext>
            </a:extLst>
          </p:cNvPr>
          <p:cNvSpPr>
            <a:spLocks xmlns:a="http://schemas.openxmlformats.org/drawingml/2006/main" noGrp="1"/>
          </p:cNvSpPr>
          <p:nvPr/>
        </p:nvSpPr>
        <p:spPr>
          <a:xfrm xmlns:a="http://schemas.openxmlformats.org/drawingml/2006/main">
            <a:off x="609600" y="1943100"/>
            <a:ext cx="5905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00" b="1">
                <a:solidFill>
                  <a:srgbClr val="19201F"/>
                </a:solidFill>
                <a:latin typeface="Helvetica Neue"/>
                <a:ea typeface="Helvetica Neue"/>
                <a:cs typeface="Helvetica Neue"/>
              </a:defRPr>
            </a:pPr>
            <a:r>
              <a:rPr sz="4200" b="1">
                <a:solidFill>
                  <a:srgbClr val="19201F"/>
                </a:solidFill>
                <a:latin typeface="Helvetica Neue"/>
                <a:ea typeface="Helvetica Neue"/>
                <a:cs typeface="Helvetica Neue"/>
              </a:rPr>
              <a:t>Small teams share access.</a:t>
            </a:r>
          </a:p>
          <a:p xmlns:a="http://schemas.openxmlformats.org/drawingml/2006/main">
            <a:pPr>
              <a:defRPr sz="4200" b="1">
                <a:solidFill>
                  <a:srgbClr val="19201F"/>
                </a:solidFill>
                <a:latin typeface="Helvetica Neue"/>
                <a:ea typeface="Helvetica Neue"/>
                <a:cs typeface="Helvetica Neue"/>
              </a:defRPr>
            </a:pPr>
            <a:r>
              <a:rPr sz="4200" b="1">
                <a:solidFill>
                  <a:srgbClr val="19201F"/>
                </a:solidFill>
                <a:latin typeface="Helvetica Neue"/>
                <a:ea typeface="Helvetica Neue"/>
                <a:cs typeface="Helvetica Neue"/>
              </a:rPr>
              <a:t>They need a way back.</a:t>
            </a:r>
          </a:p>
        </p:txBody>
      </p:sp>
      <p:sp>
        <p:nvSpPr>
          <p:cNvPr id="5" name="">
            <a:extLst xmlns:a="http://schemas.openxmlformats.org/drawingml/2006/main">
              <a:ext uri="{FF2B5EF4-FFF2-40B4-BE49-F238E27FC236}">
                <a16:creationId xmlns:a16="http://schemas.microsoft.com/office/drawing/2014/main" id="{0A3B10C0-7380-4C79-91AD-FEC004258D50}"/>
              </a:ext>
            </a:extLst>
          </p:cNvPr>
          <p:cNvSpPr>
            <a:spLocks xmlns:a="http://schemas.openxmlformats.org/drawingml/2006/main" noGrp="1"/>
          </p:cNvSpPr>
          <p:nvPr/>
        </p:nvSpPr>
        <p:spPr>
          <a:xfrm xmlns:a="http://schemas.openxmlformats.org/drawingml/2006/main">
            <a:off x="609600" y="4152900"/>
            <a:ext cx="638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61706B"/>
                </a:solidFill>
                <a:latin typeface="Helvetica Neue"/>
                <a:ea typeface="Helvetica Neue"/>
                <a:cs typeface="Helvetica Neue"/>
              </a:defRPr>
            </a:pPr>
            <a:r>
              <a:rPr sz="2400" b="0">
                <a:solidFill>
                  <a:srgbClr val="61706B"/>
                </a:solidFill>
                <a:latin typeface="Helvetica Neue"/>
                <a:ea typeface="Helvetica Neue"/>
                <a:cs typeface="Helvetica Neue"/>
              </a:rPr>
              <a:t>A recovery email that needs the lost</a:t>
            </a:r>
          </a:p>
          <a:p xmlns:a="http://schemas.openxmlformats.org/drawingml/2006/main">
            <a:pPr>
              <a:defRPr sz="2400" b="0">
                <a:solidFill>
                  <a:srgbClr val="61706B"/>
                </a:solidFill>
                <a:latin typeface="Helvetica Neue"/>
                <a:ea typeface="Helvetica Neue"/>
                <a:cs typeface="Helvetica Neue"/>
              </a:defRPr>
            </a:pPr>
            <a:r>
              <a:rPr sz="2400" b="0">
                <a:solidFill>
                  <a:srgbClr val="61706B"/>
                </a:solidFill>
                <a:latin typeface="Helvetica Neue"/>
                <a:ea typeface="Helvetica Neue"/>
                <a:cs typeface="Helvetica Neue"/>
              </a:rPr>
              <a:t>account is a dead end.</a:t>
            </a:r>
          </a:p>
        </p:txBody>
      </p:sp>
      <p:sp>
        <p:nvSpPr>
          <p:cNvPr id="6" name="">
            <a:extLst xmlns:a="http://schemas.openxmlformats.org/drawingml/2006/main">
              <a:ext uri="{FF2B5EF4-FFF2-40B4-BE49-F238E27FC236}">
                <a16:creationId xmlns:a16="http://schemas.microsoft.com/office/drawing/2014/main" id="{E933CB42-F2F2-4EC5-92DE-CB3C03CBD717}"/>
              </a:ext>
            </a:extLst>
          </p:cNvPr>
          <p:cNvSpPr>
            <a:spLocks xmlns:a="http://schemas.openxmlformats.org/drawingml/2006/main" noGrp="1"/>
          </p:cNvSpPr>
          <p:nvPr/>
        </p:nvSpPr>
        <p:spPr>
          <a:xfrm xmlns:a="http://schemas.openxmlformats.org/drawingml/2006/main">
            <a:off x="7810500" y="198120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CB4A34"/>
                </a:solidFill>
                <a:latin typeface="Helvetica Neue"/>
                <a:ea typeface="Helvetica Neue"/>
                <a:cs typeface="Helvetica Neue"/>
              </a:defRPr>
            </a:pPr>
            <a:r>
              <a:rPr sz="2475" b="1">
                <a:solidFill>
                  <a:srgbClr val="CB4A34"/>
                </a:solidFill>
                <a:latin typeface="Helvetica Neue"/>
                <a:ea typeface="Helvetica Neue"/>
                <a:cs typeface="Helvetica Neue"/>
              </a:rPr>
              <a:t>Email unavailable</a:t>
            </a:r>
          </a:p>
        </p:txBody>
      </p:sp>
      <p:sp>
        <p:nvSpPr>
          <p:cNvPr id="7" name="">
            <a:extLst xmlns:a="http://schemas.openxmlformats.org/drawingml/2006/main">
              <a:ext uri="{FF2B5EF4-FFF2-40B4-BE49-F238E27FC236}">
                <a16:creationId xmlns:a16="http://schemas.microsoft.com/office/drawing/2014/main" id="{7D8D7FB1-4D01-4650-8CA3-FE8C07462F3F}"/>
              </a:ext>
            </a:extLst>
          </p:cNvPr>
          <p:cNvSpPr>
            <a:spLocks xmlns:a="http://schemas.openxmlformats.org/drawingml/2006/main" noGrp="1"/>
          </p:cNvSpPr>
          <p:nvPr/>
        </p:nvSpPr>
        <p:spPr>
          <a:xfrm xmlns:a="http://schemas.openxmlformats.org/drawingml/2006/main">
            <a:off x="7810500" y="314325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9201F"/>
                </a:solidFill>
                <a:latin typeface="Helvetica Neue"/>
                <a:ea typeface="Helvetica Neue"/>
                <a:cs typeface="Helvetica Neue"/>
              </a:defRPr>
            </a:pPr>
            <a:r>
              <a:rPr sz="2475" b="1">
                <a:solidFill>
                  <a:srgbClr val="19201F"/>
                </a:solidFill>
                <a:latin typeface="Helvetica Neue"/>
                <a:ea typeface="Helvetica Neue"/>
                <a:cs typeface="Helvetica Neue"/>
              </a:rPr>
              <a:t>Shared files blocked</a:t>
            </a:r>
          </a:p>
        </p:txBody>
      </p:sp>
      <p:sp>
        <p:nvSpPr>
          <p:cNvPr id="8" name="">
            <a:extLst xmlns:a="http://schemas.openxmlformats.org/drawingml/2006/main">
              <a:ext uri="{FF2B5EF4-FFF2-40B4-BE49-F238E27FC236}">
                <a16:creationId xmlns:a16="http://schemas.microsoft.com/office/drawing/2014/main" id="{8288AFE8-D101-4914-A2DE-E4BF6240B538}"/>
              </a:ext>
            </a:extLst>
          </p:cNvPr>
          <p:cNvSpPr>
            <a:spLocks xmlns:a="http://schemas.openxmlformats.org/drawingml/2006/main" noGrp="1"/>
          </p:cNvSpPr>
          <p:nvPr/>
        </p:nvSpPr>
        <p:spPr>
          <a:xfrm xmlns:a="http://schemas.openxmlformats.org/drawingml/2006/main">
            <a:off x="7810500" y="430530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9201F"/>
                </a:solidFill>
                <a:latin typeface="Helvetica Neue"/>
                <a:ea typeface="Helvetica Neue"/>
                <a:cs typeface="Helvetica Neue"/>
              </a:defRPr>
            </a:pPr>
            <a:r>
              <a:rPr sz="2475" b="1">
                <a:solidFill>
                  <a:srgbClr val="19201F"/>
                </a:solidFill>
                <a:latin typeface="Helvetica Neue"/>
                <a:ea typeface="Helvetica Neue"/>
                <a:cs typeface="Helvetica Neue"/>
              </a:rPr>
              <a:t>Website access blocked</a:t>
            </a:r>
          </a:p>
        </p:txBody>
      </p:sp>
      <p:sp>
        <p:nvSpPr>
          <p:cNvPr id="9" name="">
            <a:extLst xmlns:a="http://schemas.openxmlformats.org/drawingml/2006/main">
              <a:ext uri="{FF2B5EF4-FFF2-40B4-BE49-F238E27FC236}">
                <a16:creationId xmlns:a16="http://schemas.microsoft.com/office/drawing/2014/main" id="{3E47858E-6398-4598-9DEF-9A581B6DE00C}"/>
              </a:ext>
            </a:extLst>
          </p:cNvPr>
          <p:cNvSpPr>
            <a:spLocks xmlns:a="http://schemas.openxmlformats.org/drawingml/2006/main" noGrp="1"/>
          </p:cNvSpPr>
          <p:nvPr/>
        </p:nvSpPr>
        <p:spPr>
          <a:xfrm xmlns:a="http://schemas.openxmlformats.org/drawingml/2006/main">
            <a:off x="7810500" y="552450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61706B"/>
                </a:solidFill>
                <a:latin typeface="Helvetica Neue"/>
                <a:ea typeface="Helvetica Neue"/>
                <a:cs typeface="Helvetica Neue"/>
              </a:defRPr>
            </a:pPr>
            <a:r>
              <a:rPr sz="1425" b="0">
                <a:solidFill>
                  <a:srgbClr val="61706B"/>
                </a:solidFill>
                <a:latin typeface="Helvetica Neue"/>
                <a:ea typeface="Helvetica Neue"/>
                <a:cs typeface="Helvetica Neue"/>
              </a:rPr>
              <a:t>Illustrative dependency chain</a:t>
            </a:r>
          </a:p>
        </p:txBody>
      </p:sp>
    </p:spTree>
    <p:extLst>
      <p:ext uri="{BB962C8B-B14F-4D97-AF65-F5344CB8AC3E}">
        <p14:creationId xmlns:p14="http://schemas.microsoft.com/office/powerpoint/2010/main" val="1711473983"/>
      </p:ext>
    </p:extLst>
  </p:cSld>
</p:sld>
</file>

<file path=ppt/slides/slide3.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83C24C-2498-4A34-BB58-06D7B8B116A6}"/>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Start with the services your team uses.</a:t>
            </a:r>
          </a:p>
        </p:txBody>
      </p:sp>
      <p:sp>
        <p:nvSpPr>
          <p:cNvPr id="2" name="">
            <a:extLst xmlns:a="http://schemas.openxmlformats.org/drawingml/2006/main">
              <a:ext uri="{FF2B5EF4-FFF2-40B4-BE49-F238E27FC236}">
                <a16:creationId xmlns:a16="http://schemas.microsoft.com/office/drawing/2014/main" id="{4AD131B2-26AD-4509-89DD-953AA0E1C246}"/>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924DC328-01C0-4320-8ABA-D786FA63E86F}"/>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F66EB7C8-8014-4C93-B976-7C29971AFED5}"/>
              </a:ext>
            </a:extLst>
          </p:cNvPr>
          <p:cNvSpPr>
            <a:spLocks xmlns:a="http://schemas.openxmlformats.org/drawingml/2006/main" noGrp="1"/>
          </p:cNvSpPr>
          <p:nvPr/>
        </p:nvSpPr>
        <p:spPr>
          <a:xfrm xmlns:a="http://schemas.openxmlformats.org/drawingml/2006/main">
            <a:off x="609600" y="1952625"/>
            <a:ext cx="4286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19201F"/>
                </a:solidFill>
                <a:latin typeface="Helvetica Neue"/>
                <a:ea typeface="Helvetica Neue"/>
                <a:cs typeface="Helvetica Neue"/>
              </a:defRPr>
            </a:pPr>
            <a:r>
              <a:rPr sz="4350" b="1">
                <a:solidFill>
                  <a:srgbClr val="19201F"/>
                </a:solidFill>
                <a:latin typeface="Helvetica Neue"/>
                <a:ea typeface="Helvetica Neue"/>
                <a:cs typeface="Helvetica Neue"/>
              </a:rPr>
              <a:t>One service</a:t>
            </a:r>
          </a:p>
          <a:p xmlns:a="http://schemas.openxmlformats.org/drawingml/2006/main">
            <a:pPr>
              <a:defRPr sz="4350" b="1">
                <a:solidFill>
                  <a:srgbClr val="19201F"/>
                </a:solidFill>
                <a:latin typeface="Helvetica Neue"/>
                <a:ea typeface="Helvetica Neue"/>
                <a:cs typeface="Helvetica Neue"/>
              </a:defRPr>
            </a:pPr>
            <a:r>
              <a:rPr sz="4350" b="1">
                <a:solidFill>
                  <a:srgbClr val="19201F"/>
                </a:solidFill>
                <a:latin typeface="Helvetica Neue"/>
                <a:ea typeface="Helvetica Neue"/>
                <a:cs typeface="Helvetica Neue"/>
              </a:rPr>
              <a:t>at a time.</a:t>
            </a:r>
          </a:p>
        </p:txBody>
      </p:sp>
      <p:sp>
        <p:nvSpPr>
          <p:cNvPr id="5" name="">
            <a:extLst xmlns:a="http://schemas.openxmlformats.org/drawingml/2006/main">
              <a:ext uri="{FF2B5EF4-FFF2-40B4-BE49-F238E27FC236}">
                <a16:creationId xmlns:a16="http://schemas.microsoft.com/office/drawing/2014/main" id="{48404021-32E6-4A60-ADCA-14D0D7AC7540}"/>
              </a:ext>
            </a:extLst>
          </p:cNvPr>
          <p:cNvSpPr>
            <a:spLocks xmlns:a="http://schemas.openxmlformats.org/drawingml/2006/main" noGrp="1"/>
          </p:cNvSpPr>
          <p:nvPr/>
        </p:nvSpPr>
        <p:spPr>
          <a:xfrm xmlns:a="http://schemas.openxmlformats.org/drawingml/2006/main">
            <a:off x="609600" y="3981450"/>
            <a:ext cx="409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1706B"/>
                </a:solidFill>
                <a:latin typeface="Helvetica Neue"/>
                <a:ea typeface="Helvetica Neue"/>
                <a:cs typeface="Helvetica Neue"/>
              </a:defRPr>
            </a:pPr>
            <a:r>
              <a:rPr sz="2175" b="0">
                <a:solidFill>
                  <a:srgbClr val="61706B"/>
                </a:solidFill>
                <a:latin typeface="Helvetica Neue"/>
                <a:ea typeface="Helvetica Neue"/>
                <a:cs typeface="Helvetica Neue"/>
              </a:rPr>
              <a:t>Name the owner.</a:t>
            </a:r>
          </a:p>
          <a:p xmlns:a="http://schemas.openxmlformats.org/drawingml/2006/main">
            <a:pPr>
              <a:defRPr sz="2175" b="0">
                <a:solidFill>
                  <a:srgbClr val="61706B"/>
                </a:solidFill>
                <a:latin typeface="Helvetica Neue"/>
                <a:ea typeface="Helvetica Neue"/>
                <a:cs typeface="Helvetica Neue"/>
              </a:defRPr>
            </a:pPr>
            <a:r>
              <a:rPr sz="2175" b="0">
                <a:solidFill>
                  <a:srgbClr val="61706B"/>
                </a:solidFill>
                <a:latin typeface="Helvetica Neue"/>
                <a:ea typeface="Helvetica Neue"/>
                <a:cs typeface="Helvetica Neue"/>
              </a:rPr>
              <a:t>Record what access needs.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f2845094f684288"/>
          <a:stretch xmlns:a="http://schemas.openxmlformats.org/drawingml/2006/main"/>
        </p:blipFill>
        <p:spPr>
          <a:xfrm xmlns:a="http://schemas.openxmlformats.org/drawingml/2006/main">
            <a:off x="6244925" y="1514475"/>
            <a:ext cx="4655150" cy="4610100"/>
          </a:xfrm>
          <a:prstGeom xmlns:a="http://schemas.openxmlformats.org/drawingml/2006/main" prst="rect">
            <a:avLst/>
          </a:prstGeom>
        </p:spPr>
      </p:pic>
    </p:spTree>
    <p:extLst>
      <p:ext uri="{BB962C8B-B14F-4D97-AF65-F5344CB8AC3E}">
        <p14:creationId xmlns:p14="http://schemas.microsoft.com/office/powerpoint/2010/main" val="440342113"/>
      </p:ext>
    </p:extLst>
  </p:cSld>
</p:sld>
</file>

<file path=ppt/slides/slide4.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D20F2E-7CCA-4C0A-B015-29A1E6F8C6C6}"/>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See what a loss would block.</a:t>
            </a:r>
          </a:p>
        </p:txBody>
      </p:sp>
      <p:sp>
        <p:nvSpPr>
          <p:cNvPr id="2" name="">
            <a:extLst xmlns:a="http://schemas.openxmlformats.org/drawingml/2006/main">
              <a:ext uri="{FF2B5EF4-FFF2-40B4-BE49-F238E27FC236}">
                <a16:creationId xmlns:a16="http://schemas.microsoft.com/office/drawing/2014/main" id="{23CAE59F-2C81-4F4C-9795-2D250902788A}"/>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E8FAF4A3-8751-4367-BBE3-9E8CAD2F91C3}"/>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9E743040-48B3-45BC-8E35-AB72295EBF8A}"/>
              </a:ext>
            </a:extLst>
          </p:cNvPr>
          <p:cNvSpPr>
            <a:spLocks xmlns:a="http://schemas.openxmlformats.org/drawingml/2006/main" noGrp="1"/>
          </p:cNvSpPr>
          <p:nvPr/>
        </p:nvSpPr>
        <p:spPr>
          <a:xfrm xmlns:a="http://schemas.openxmlformats.org/drawingml/2006/main">
            <a:off x="609600" y="2171700"/>
            <a:ext cx="314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8100" b="1">
                <a:solidFill>
                  <a:srgbClr val="CB4A34"/>
                </a:solidFill>
                <a:latin typeface="Helvetica Neue"/>
                <a:ea typeface="Helvetica Neue"/>
                <a:cs typeface="Helvetica Neue"/>
              </a:defRPr>
            </a:pPr>
            <a:r>
              <a:rPr sz="8100" b="1">
                <a:solidFill>
                  <a:srgbClr val="CB4A34"/>
                </a:solidFill>
                <a:latin typeface="Helvetica Neue"/>
                <a:ea typeface="Helvetica Neue"/>
                <a:cs typeface="Helvetica Neue"/>
              </a:rPr>
              <a:t>1 / 3</a:t>
            </a:r>
          </a:p>
        </p:txBody>
      </p:sp>
      <p:sp>
        <p:nvSpPr>
          <p:cNvPr id="5" name="">
            <a:extLst xmlns:a="http://schemas.openxmlformats.org/drawingml/2006/main">
              <a:ext uri="{FF2B5EF4-FFF2-40B4-BE49-F238E27FC236}">
                <a16:creationId xmlns:a16="http://schemas.microsoft.com/office/drawing/2014/main" id="{8FCA5999-2868-475A-B56B-758B5792352A}"/>
              </a:ext>
            </a:extLst>
          </p:cNvPr>
          <p:cNvSpPr>
            <a:spLocks xmlns:a="http://schemas.openxmlformats.org/drawingml/2006/main" noGrp="1"/>
          </p:cNvSpPr>
          <p:nvPr/>
        </p:nvSpPr>
        <p:spPr>
          <a:xfrm xmlns:a="http://schemas.openxmlformats.org/drawingml/2006/main">
            <a:off x="609600" y="3657600"/>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9201F"/>
                </a:solidFill>
                <a:latin typeface="Helvetica Neue"/>
                <a:ea typeface="Helvetica Neue"/>
                <a:cs typeface="Helvetica Neue"/>
              </a:defRPr>
            </a:pPr>
            <a:r>
              <a:rPr sz="2325" b="1">
                <a:solidFill>
                  <a:srgbClr val="19201F"/>
                </a:solidFill>
                <a:latin typeface="Helvetica Neue"/>
                <a:ea typeface="Helvetica Neue"/>
                <a:cs typeface="Helvetica Neue"/>
              </a:rPr>
              <a:t>activities still working</a:t>
            </a:r>
          </a:p>
        </p:txBody>
      </p:sp>
      <p:sp>
        <p:nvSpPr>
          <p:cNvPr id="6" name="">
            <a:extLst xmlns:a="http://schemas.openxmlformats.org/drawingml/2006/main">
              <a:ext uri="{FF2B5EF4-FFF2-40B4-BE49-F238E27FC236}">
                <a16:creationId xmlns:a16="http://schemas.microsoft.com/office/drawing/2014/main" id="{4E77ED93-C034-40B2-81D0-073636E49E88}"/>
              </a:ext>
            </a:extLst>
          </p:cNvPr>
          <p:cNvSpPr>
            <a:spLocks xmlns:a="http://schemas.openxmlformats.org/drawingml/2006/main" noGrp="1"/>
          </p:cNvSpPr>
          <p:nvPr/>
        </p:nvSpPr>
        <p:spPr>
          <a:xfrm xmlns:a="http://schemas.openxmlformats.org/drawingml/2006/main">
            <a:off x="609600" y="4838700"/>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1706B"/>
                </a:solidFill>
                <a:latin typeface="Helvetica Neue"/>
                <a:ea typeface="Helvetica Neue"/>
                <a:cs typeface="Helvetica Neue"/>
              </a:defRPr>
            </a:pPr>
            <a:r>
              <a:rPr sz="1875" b="0">
                <a:solidFill>
                  <a:srgbClr val="61706B"/>
                </a:solidFill>
                <a:latin typeface="Helvetica Neue"/>
                <a:ea typeface="Helvetica Neue"/>
                <a:cs typeface="Helvetica Neue"/>
              </a:rPr>
              <a:t>Example loss:</a:t>
            </a:r>
          </a:p>
          <a:p xmlns:a="http://schemas.openxmlformats.org/drawingml/2006/main">
            <a:pPr>
              <a:defRPr sz="1875" b="0">
                <a:solidFill>
                  <a:srgbClr val="61706B"/>
                </a:solidFill>
                <a:latin typeface="Helvetica Neue"/>
                <a:ea typeface="Helvetica Neue"/>
                <a:cs typeface="Helvetica Neue"/>
              </a:defRPr>
            </a:pPr>
            <a:r>
              <a:rPr sz="1875" b="0">
                <a:solidFill>
                  <a:srgbClr val="61706B"/>
                </a:solidFill>
                <a:latin typeface="Helvetica Neue"/>
                <a:ea typeface="Helvetica Neue"/>
                <a:cs typeface="Helvetica Neue"/>
              </a:rPr>
              <a:t>email + backup</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a50ffc1a9f4524"/>
          <a:stretch xmlns:a="http://schemas.openxmlformats.org/drawingml/2006/main"/>
        </p:blipFill>
        <p:spPr>
          <a:xfrm xmlns:a="http://schemas.openxmlformats.org/drawingml/2006/main">
            <a:off x="4267200" y="2047538"/>
            <a:ext cx="7239000" cy="3363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010BBE5-04AB-4533-98D1-B12B6CAEAC2B}"/>
              </a:ext>
            </a:extLst>
          </p:cNvPr>
          <p:cNvSpPr>
            <a:spLocks xmlns:a="http://schemas.openxmlformats.org/drawingml/2006/main" noGrp="1"/>
          </p:cNvSpPr>
          <p:nvPr/>
        </p:nvSpPr>
        <p:spPr>
          <a:xfrm xmlns:a="http://schemas.openxmlformats.org/drawingml/2006/main">
            <a:off x="4267200" y="5838825"/>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61706B"/>
                </a:solidFill>
                <a:latin typeface="Helvetica Neue"/>
                <a:ea typeface="Helvetica Neue"/>
                <a:cs typeface="Helvetica Neue"/>
              </a:defRPr>
            </a:pPr>
            <a:r>
              <a:rPr sz="1425" b="0">
                <a:solidFill>
                  <a:srgbClr val="61706B"/>
                </a:solidFill>
                <a:latin typeface="Helvetica Neue"/>
                <a:ea typeface="Helvetica Neue"/>
                <a:cs typeface="Helvetica Neue"/>
              </a:rPr>
              <a:t>Illustrative map • your accounts stay unchanged</a:t>
            </a:r>
          </a:p>
        </p:txBody>
      </p:sp>
    </p:spTree>
    <p:extLst>
      <p:ext uri="{BB962C8B-B14F-4D97-AF65-F5344CB8AC3E}">
        <p14:creationId xmlns:p14="http://schemas.microsoft.com/office/powerpoint/2010/main" val="2054736139"/>
      </p:ext>
    </p:extLst>
  </p:cSld>
</p:sld>
</file>

<file path=ppt/slides/slide5.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F8DD1D-B7ED-4A5F-9EB4-C7619B47B624}"/>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Prepare a route that survives the loss.</a:t>
            </a:r>
          </a:p>
        </p:txBody>
      </p:sp>
      <p:sp>
        <p:nvSpPr>
          <p:cNvPr id="2" name="">
            <a:extLst xmlns:a="http://schemas.openxmlformats.org/drawingml/2006/main">
              <a:ext uri="{FF2B5EF4-FFF2-40B4-BE49-F238E27FC236}">
                <a16:creationId xmlns:a16="http://schemas.microsoft.com/office/drawing/2014/main" id="{64D208D2-5097-4A98-A6E4-EA10D5253AB8}"/>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A3C24D86-42AB-4874-AEE1-C3853CC35797}"/>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873c970c0c24381"/>
          <a:stretch xmlns:a="http://schemas.openxmlformats.org/drawingml/2006/main"/>
        </p:blipFill>
        <p:spPr>
          <a:xfrm xmlns:a="http://schemas.openxmlformats.org/drawingml/2006/main">
            <a:off x="609600" y="2406124"/>
            <a:ext cx="7086600" cy="267440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227F503-0617-4A68-BAE9-068F4DF04D67}"/>
              </a:ext>
            </a:extLst>
          </p:cNvPr>
          <p:cNvSpPr>
            <a:spLocks xmlns:a="http://schemas.openxmlformats.org/drawingml/2006/main" noGrp="1"/>
          </p:cNvSpPr>
          <p:nvPr/>
        </p:nvSpPr>
        <p:spPr>
          <a:xfrm xmlns:a="http://schemas.openxmlformats.org/drawingml/2006/main">
            <a:off x="8286750" y="1933575"/>
            <a:ext cx="32861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286A5F"/>
                </a:solidFill>
                <a:latin typeface="Helvetica Neue"/>
                <a:ea typeface="Helvetica Neue"/>
                <a:cs typeface="Helvetica Neue"/>
              </a:defRPr>
            </a:pPr>
            <a:r>
              <a:rPr sz="3225" b="1">
                <a:solidFill>
                  <a:srgbClr val="286A5F"/>
                </a:solidFill>
                <a:latin typeface="Helvetica Neue"/>
                <a:ea typeface="Helvetica Neue"/>
                <a:cs typeface="Helvetica Neue"/>
              </a:rPr>
              <a:t>Keep the proposal</a:t>
            </a:r>
          </a:p>
          <a:p xmlns:a="http://schemas.openxmlformats.org/drawingml/2006/main">
            <a:pPr>
              <a:defRPr sz="3225" b="1">
                <a:solidFill>
                  <a:srgbClr val="286A5F"/>
                </a:solidFill>
                <a:latin typeface="Helvetica Neue"/>
                <a:ea typeface="Helvetica Neue"/>
                <a:cs typeface="Helvetica Neue"/>
              </a:defRPr>
            </a:pPr>
            <a:r>
              <a:rPr sz="3225" b="1">
                <a:solidFill>
                  <a:srgbClr val="286A5F"/>
                </a:solidFill>
                <a:latin typeface="Helvetica Neue"/>
                <a:ea typeface="Helvetica Neue"/>
                <a:cs typeface="Helvetica Neue"/>
              </a:rPr>
              <a:t>separate.</a:t>
            </a:r>
          </a:p>
        </p:txBody>
      </p:sp>
      <p:sp>
        <p:nvSpPr>
          <p:cNvPr id="6" name="">
            <a:extLst xmlns:a="http://schemas.openxmlformats.org/drawingml/2006/main">
              <a:ext uri="{FF2B5EF4-FFF2-40B4-BE49-F238E27FC236}">
                <a16:creationId xmlns:a16="http://schemas.microsoft.com/office/drawing/2014/main" id="{D6CF95F2-E57F-4345-9772-6185BF68D3A8}"/>
              </a:ext>
            </a:extLst>
          </p:cNvPr>
          <p:cNvSpPr>
            <a:spLocks xmlns:a="http://schemas.openxmlformats.org/drawingml/2006/main" noGrp="1"/>
          </p:cNvSpPr>
          <p:nvPr/>
        </p:nvSpPr>
        <p:spPr>
          <a:xfrm xmlns:a="http://schemas.openxmlformats.org/drawingml/2006/main">
            <a:off x="8286750" y="39909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61706B"/>
                </a:solidFill>
                <a:latin typeface="Helvetica Neue"/>
                <a:ea typeface="Helvetica Neue"/>
                <a:cs typeface="Helvetica Neue"/>
              </a:defRPr>
            </a:pPr>
            <a:r>
              <a:rPr sz="2100" b="0">
                <a:solidFill>
                  <a:srgbClr val="61706B"/>
                </a:solidFill>
                <a:latin typeface="Helvetica Neue"/>
                <a:ea typeface="Helvetica Neue"/>
                <a:cs typeface="Helvetica Neue"/>
              </a:rPr>
              <a:t>Assign the preparation.</a:t>
            </a:r>
          </a:p>
          <a:p xmlns:a="http://schemas.openxmlformats.org/drawingml/2006/main">
            <a:pPr>
              <a:defRPr sz="2100" b="0">
                <a:solidFill>
                  <a:srgbClr val="61706B"/>
                </a:solidFill>
                <a:latin typeface="Helvetica Neue"/>
                <a:ea typeface="Helvetica Neue"/>
                <a:cs typeface="Helvetica Neue"/>
              </a:defRPr>
            </a:pPr>
            <a:r>
              <a:rPr sz="2100" b="0">
                <a:solidFill>
                  <a:srgbClr val="61706B"/>
                </a:solidFill>
                <a:latin typeface="Helvetica Neue"/>
                <a:ea typeface="Helvetica Neue"/>
                <a:cs typeface="Helvetica Neue"/>
              </a:rPr>
              <a:t>Confirm the real method.</a:t>
            </a:r>
          </a:p>
        </p:txBody>
      </p:sp>
    </p:spTree>
    <p:extLst>
      <p:ext uri="{BB962C8B-B14F-4D97-AF65-F5344CB8AC3E}">
        <p14:creationId xmlns:p14="http://schemas.microsoft.com/office/powerpoint/2010/main" val="424856817"/>
      </p:ext>
    </p:extLst>
  </p:cSld>
</p:sld>
</file>

<file path=ppt/slides/slide6.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73A446-B102-476C-933A-FA7B744F263C}"/>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Check the recovery order together.</a:t>
            </a:r>
          </a:p>
        </p:txBody>
      </p:sp>
      <p:sp>
        <p:nvSpPr>
          <p:cNvPr id="2" name="">
            <a:extLst xmlns:a="http://schemas.openxmlformats.org/drawingml/2006/main">
              <a:ext uri="{FF2B5EF4-FFF2-40B4-BE49-F238E27FC236}">
                <a16:creationId xmlns:a16="http://schemas.microsoft.com/office/drawing/2014/main" id="{B6ACA88E-3B3D-4347-B4CB-C3184865D56C}"/>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99014FCD-2250-4182-99A6-92F4F49CF599}"/>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EDB4E5AF-31EB-4F09-9FD4-6819ED0B78F6}"/>
              </a:ext>
            </a:extLst>
          </p:cNvPr>
          <p:cNvSpPr>
            <a:spLocks xmlns:a="http://schemas.openxmlformats.org/drawingml/2006/main" noGrp="1"/>
          </p:cNvSpPr>
          <p:nvPr/>
        </p:nvSpPr>
        <p:spPr>
          <a:xfrm xmlns:a="http://schemas.openxmlformats.org/drawingml/2006/main">
            <a:off x="609600" y="168592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286A5F"/>
                </a:solidFill>
                <a:latin typeface="Helvetica Neue"/>
                <a:ea typeface="Helvetica Neue"/>
                <a:cs typeface="Helvetica Neue"/>
              </a:defRPr>
            </a:pPr>
            <a:r>
              <a:rPr sz="2775" b="1">
                <a:solidFill>
                  <a:srgbClr val="286A5F"/>
                </a:solidFill>
                <a:latin typeface="Helvetica Neue"/>
                <a:ea typeface="Helvetica Neue"/>
                <a:cs typeface="Helvetica Neue"/>
              </a:rPr>
              <a:t>Owners act in order.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287169ccb27438f"/>
          <a:stretch xmlns:a="http://schemas.openxmlformats.org/drawingml/2006/main"/>
        </p:blipFill>
        <p:spPr>
          <a:xfrm xmlns:a="http://schemas.openxmlformats.org/drawingml/2006/main">
            <a:off x="839321" y="2476500"/>
            <a:ext cx="8017809" cy="3429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9BDCE3-C956-4DDA-BF85-A540733381F8}"/>
              </a:ext>
            </a:extLst>
          </p:cNvPr>
          <p:cNvSpPr>
            <a:spLocks xmlns:a="http://schemas.openxmlformats.org/drawingml/2006/main" noGrp="1"/>
          </p:cNvSpPr>
          <p:nvPr/>
        </p:nvSpPr>
        <p:spPr>
          <a:xfrm xmlns:a="http://schemas.openxmlformats.org/drawingml/2006/main">
            <a:off x="9525000" y="2800350"/>
            <a:ext cx="20764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9201F"/>
                </a:solidFill>
                <a:latin typeface="Helvetica Neue"/>
                <a:ea typeface="Helvetica Neue"/>
                <a:cs typeface="Helvetica Neue"/>
              </a:defRPr>
            </a:pPr>
            <a:r>
              <a:rPr sz="2175" b="0">
                <a:solidFill>
                  <a:srgbClr val="19201F"/>
                </a:solidFill>
                <a:latin typeface="Helvetica Neue"/>
                <a:ea typeface="Helvetica Neue"/>
                <a:cs typeface="Helvetica Neue"/>
              </a:rPr>
              <a:t>Approve people.</a:t>
            </a:r>
          </a:p>
          <a:p xmlns:a="http://schemas.openxmlformats.org/drawingml/2006/main">
            <a:pPr>
              <a:defRPr sz="2175" b="0">
                <a:solidFill>
                  <a:srgbClr val="19201F"/>
                </a:solidFill>
                <a:latin typeface="Helvetica Neue"/>
                <a:ea typeface="Helvetica Neue"/>
                <a:cs typeface="Helvetica Neue"/>
              </a:defRPr>
            </a:pPr>
            <a:r>
              <a:rPr sz="2175" b="0">
                <a:solidFill>
                  <a:srgbClr val="19201F"/>
                </a:solidFill>
                <a:latin typeface="Helvetica Neue"/>
                <a:ea typeface="Helvetica Neue"/>
                <a:cs typeface="Helvetica Neue"/>
              </a:rPr>
              <a:t>Assign accounts.</a:t>
            </a:r>
          </a:p>
          <a:p xmlns:a="http://schemas.openxmlformats.org/drawingml/2006/main">
            <a:pPr>
              <a:defRPr sz="2175" b="0">
                <a:solidFill>
                  <a:srgbClr val="19201F"/>
                </a:solidFill>
                <a:latin typeface="Helvetica Neue"/>
                <a:ea typeface="Helvetica Neue"/>
                <a:cs typeface="Helvetica Neue"/>
              </a:defRPr>
            </a:pPr>
            <a:r>
              <a:rPr sz="2175" b="0">
                <a:solidFill>
                  <a:srgbClr val="19201F"/>
                </a:solidFill>
                <a:latin typeface="Helvetica Neue"/>
                <a:ea typeface="Helvetica Neue"/>
                <a:cs typeface="Helvetica Neue"/>
              </a:rPr>
              <a:t>Record the check.</a:t>
            </a:r>
          </a:p>
        </p:txBody>
      </p:sp>
    </p:spTree>
    <p:extLst>
      <p:ext uri="{BB962C8B-B14F-4D97-AF65-F5344CB8AC3E}">
        <p14:creationId xmlns:p14="http://schemas.microsoft.com/office/powerpoint/2010/main" val="1824059678"/>
      </p:ext>
    </p:extLst>
  </p:cSld>
</p:sld>
</file>

<file path=ppt/slides/slide7.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EF7A4B-2353-401C-A537-55D24D7F6569}"/>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Leave with a usable recovery plan.</a:t>
            </a:r>
          </a:p>
        </p:txBody>
      </p:sp>
      <p:sp>
        <p:nvSpPr>
          <p:cNvPr id="2" name="">
            <a:extLst xmlns:a="http://schemas.openxmlformats.org/drawingml/2006/main">
              <a:ext uri="{FF2B5EF4-FFF2-40B4-BE49-F238E27FC236}">
                <a16:creationId xmlns:a16="http://schemas.microsoft.com/office/drawing/2014/main" id="{CEC35A1C-880E-494F-B6FC-C2B41CE08EA6}"/>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51E0F8C0-E0B5-44B3-873E-1838D2513D08}"/>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AE1FE7BF-3BBE-42BF-AD6E-5D0D9A2C14CD}"/>
              </a:ext>
            </a:extLst>
          </p:cNvPr>
          <p:cNvSpPr>
            <a:spLocks xmlns:a="http://schemas.openxmlformats.org/drawingml/2006/main" noGrp="1"/>
          </p:cNvSpPr>
          <p:nvPr/>
        </p:nvSpPr>
        <p:spPr>
          <a:xfrm xmlns:a="http://schemas.openxmlformats.org/drawingml/2006/main">
            <a:off x="609600" y="19907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201F"/>
                </a:solidFill>
                <a:latin typeface="Helvetica Neue"/>
                <a:ea typeface="Helvetica Neue"/>
                <a:cs typeface="Helvetica Neue"/>
              </a:defRPr>
            </a:pPr>
            <a:r>
              <a:rPr sz="3300" b="1">
                <a:solidFill>
                  <a:srgbClr val="19201F"/>
                </a:solidFill>
                <a:latin typeface="Helvetica Neue"/>
                <a:ea typeface="Helvetica Neue"/>
                <a:cs typeface="Helvetica Neue"/>
              </a:rPr>
              <a:t>A readable reference</a:t>
            </a:r>
          </a:p>
        </p:txBody>
      </p:sp>
      <p:sp>
        <p:nvSpPr>
          <p:cNvPr id="5" name="">
            <a:extLst xmlns:a="http://schemas.openxmlformats.org/drawingml/2006/main">
              <a:ext uri="{FF2B5EF4-FFF2-40B4-BE49-F238E27FC236}">
                <a16:creationId xmlns:a16="http://schemas.microsoft.com/office/drawing/2014/main" id="{34A09865-D69A-4F46-91AC-DD1AC5757DFB}"/>
              </a:ext>
            </a:extLst>
          </p:cNvPr>
          <p:cNvSpPr>
            <a:spLocks xmlns:a="http://schemas.openxmlformats.org/drawingml/2006/main" noGrp="1"/>
          </p:cNvSpPr>
          <p:nvPr/>
        </p:nvSpPr>
        <p:spPr>
          <a:xfrm xmlns:a="http://schemas.openxmlformats.org/drawingml/2006/main">
            <a:off x="609600" y="31623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201F"/>
                </a:solidFill>
                <a:latin typeface="Helvetica Neue"/>
                <a:ea typeface="Helvetica Neue"/>
                <a:cs typeface="Helvetica Neue"/>
              </a:defRPr>
            </a:pPr>
            <a:r>
              <a:rPr sz="3300" b="1">
                <a:solidFill>
                  <a:srgbClr val="19201F"/>
                </a:solidFill>
                <a:latin typeface="Helvetica Neue"/>
                <a:ea typeface="Helvetica Neue"/>
                <a:cs typeface="Helvetica Neue"/>
              </a:rPr>
              <a:t>An encrypted backup</a:t>
            </a:r>
          </a:p>
        </p:txBody>
      </p:sp>
      <p:sp>
        <p:nvSpPr>
          <p:cNvPr id="6" name="">
            <a:extLst xmlns:a="http://schemas.openxmlformats.org/drawingml/2006/main">
              <a:ext uri="{FF2B5EF4-FFF2-40B4-BE49-F238E27FC236}">
                <a16:creationId xmlns:a16="http://schemas.microsoft.com/office/drawing/2014/main" id="{1D7A8122-1130-4958-9B87-CA1B01B99FDA}"/>
              </a:ext>
            </a:extLst>
          </p:cNvPr>
          <p:cNvSpPr>
            <a:spLocks xmlns:a="http://schemas.openxmlformats.org/drawingml/2006/main" noGrp="1"/>
          </p:cNvSpPr>
          <p:nvPr/>
        </p:nvSpPr>
        <p:spPr>
          <a:xfrm xmlns:a="http://schemas.openxmlformats.org/drawingml/2006/main">
            <a:off x="609600" y="43338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201F"/>
                </a:solidFill>
                <a:latin typeface="Helvetica Neue"/>
                <a:ea typeface="Helvetica Neue"/>
                <a:cs typeface="Helvetica Neue"/>
              </a:defRPr>
            </a:pPr>
            <a:r>
              <a:rPr sz="3300" b="1">
                <a:solidFill>
                  <a:srgbClr val="19201F"/>
                </a:solidFill>
                <a:latin typeface="Helvetica Neue"/>
                <a:ea typeface="Helvetica Neue"/>
                <a:cs typeface="Helvetica Neue"/>
              </a:rPr>
              <a:t>Actions with owners</a:t>
            </a:r>
          </a:p>
        </p:txBody>
      </p:sp>
      <p:sp>
        <p:nvSpPr>
          <p:cNvPr id="7" name="">
            <a:extLst xmlns:a="http://schemas.openxmlformats.org/drawingml/2006/main">
              <a:ext uri="{FF2B5EF4-FFF2-40B4-BE49-F238E27FC236}">
                <a16:creationId xmlns:a16="http://schemas.microsoft.com/office/drawing/2014/main" id="{46E33CB4-21BF-4BE9-8820-7EF9609CA437}"/>
              </a:ext>
            </a:extLst>
          </p:cNvPr>
          <p:cNvSpPr>
            <a:spLocks xmlns:a="http://schemas.openxmlformats.org/drawingml/2006/main" noGrp="1"/>
          </p:cNvSpPr>
          <p:nvPr/>
        </p:nvSpPr>
        <p:spPr>
          <a:xfrm xmlns:a="http://schemas.openxmlformats.org/drawingml/2006/main">
            <a:off x="8648700" y="1819275"/>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75" b="1">
                <a:solidFill>
                  <a:srgbClr val="286A5F"/>
                </a:solidFill>
                <a:latin typeface="Helvetica Neue"/>
                <a:ea typeface="Helvetica Neue"/>
                <a:cs typeface="Helvetica Neue"/>
              </a:defRPr>
            </a:pPr>
            <a:r>
              <a:rPr sz="6675" b="1">
                <a:solidFill>
                  <a:srgbClr val="286A5F"/>
                </a:solidFill>
                <a:latin typeface="Helvetica Neue"/>
                <a:ea typeface="Helvetica Neue"/>
                <a:cs typeface="Helvetica Neue"/>
              </a:rPr>
              <a:t>41</a:t>
            </a:r>
          </a:p>
        </p:txBody>
      </p:sp>
      <p:sp>
        <p:nvSpPr>
          <p:cNvPr id="8" name="">
            <a:extLst xmlns:a="http://schemas.openxmlformats.org/drawingml/2006/main">
              <a:ext uri="{FF2B5EF4-FFF2-40B4-BE49-F238E27FC236}">
                <a16:creationId xmlns:a16="http://schemas.microsoft.com/office/drawing/2014/main" id="{DAA2A673-21A5-40F0-8497-1C704557250D}"/>
              </a:ext>
            </a:extLst>
          </p:cNvPr>
          <p:cNvSpPr>
            <a:spLocks xmlns:a="http://schemas.openxmlformats.org/drawingml/2006/main" noGrp="1"/>
          </p:cNvSpPr>
          <p:nvPr/>
        </p:nvSpPr>
        <p:spPr>
          <a:xfrm xmlns:a="http://schemas.openxmlformats.org/drawingml/2006/main">
            <a:off x="8648700" y="30289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06B"/>
                </a:solidFill>
                <a:latin typeface="Helvetica Neue"/>
                <a:ea typeface="Helvetica Neue"/>
                <a:cs typeface="Helvetica Neue"/>
              </a:defRPr>
            </a:pPr>
            <a:r>
              <a:rPr sz="1725" b="0">
                <a:solidFill>
                  <a:srgbClr val="61706B"/>
                </a:solidFill>
                <a:latin typeface="Helvetica Neue"/>
                <a:ea typeface="Helvetica Neue"/>
                <a:cs typeface="Helvetica Neue"/>
              </a:rPr>
              <a:t>unit / integration tests</a:t>
            </a:r>
          </a:p>
        </p:txBody>
      </p:sp>
      <p:sp>
        <p:nvSpPr>
          <p:cNvPr id="9" name="">
            <a:extLst xmlns:a="http://schemas.openxmlformats.org/drawingml/2006/main">
              <a:ext uri="{FF2B5EF4-FFF2-40B4-BE49-F238E27FC236}">
                <a16:creationId xmlns:a16="http://schemas.microsoft.com/office/drawing/2014/main" id="{10FBDB6F-06AB-4C20-80FD-A0FB2D240809}"/>
              </a:ext>
            </a:extLst>
          </p:cNvPr>
          <p:cNvSpPr>
            <a:spLocks xmlns:a="http://schemas.openxmlformats.org/drawingml/2006/main" noGrp="1"/>
          </p:cNvSpPr>
          <p:nvPr/>
        </p:nvSpPr>
        <p:spPr>
          <a:xfrm xmlns:a="http://schemas.openxmlformats.org/drawingml/2006/main">
            <a:off x="8648700" y="3829050"/>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75" b="1">
                <a:solidFill>
                  <a:srgbClr val="286A5F"/>
                </a:solidFill>
                <a:latin typeface="Helvetica Neue"/>
                <a:ea typeface="Helvetica Neue"/>
                <a:cs typeface="Helvetica Neue"/>
              </a:defRPr>
            </a:pPr>
            <a:r>
              <a:rPr sz="6675" b="1">
                <a:solidFill>
                  <a:srgbClr val="286A5F"/>
                </a:solidFill>
                <a:latin typeface="Helvetica Neue"/>
                <a:ea typeface="Helvetica Neue"/>
                <a:cs typeface="Helvetica Neue"/>
              </a:rPr>
              <a:t>9</a:t>
            </a:r>
          </a:p>
        </p:txBody>
      </p:sp>
      <p:sp>
        <p:nvSpPr>
          <p:cNvPr id="10" name="">
            <a:extLst xmlns:a="http://schemas.openxmlformats.org/drawingml/2006/main">
              <a:ext uri="{FF2B5EF4-FFF2-40B4-BE49-F238E27FC236}">
                <a16:creationId xmlns:a16="http://schemas.microsoft.com/office/drawing/2014/main" id="{C67E32AD-FF00-4CD2-B307-0A056E1D2146}"/>
              </a:ext>
            </a:extLst>
          </p:cNvPr>
          <p:cNvSpPr>
            <a:spLocks xmlns:a="http://schemas.openxmlformats.org/drawingml/2006/main" noGrp="1"/>
          </p:cNvSpPr>
          <p:nvPr/>
        </p:nvSpPr>
        <p:spPr>
          <a:xfrm xmlns:a="http://schemas.openxmlformats.org/drawingml/2006/main">
            <a:off x="8648700" y="503872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06B"/>
                </a:solidFill>
                <a:latin typeface="Helvetica Neue"/>
                <a:ea typeface="Helvetica Neue"/>
                <a:cs typeface="Helvetica Neue"/>
              </a:defRPr>
            </a:pPr>
            <a:r>
              <a:rPr sz="1725" b="0">
                <a:solidFill>
                  <a:srgbClr val="61706B"/>
                </a:solidFill>
                <a:latin typeface="Helvetica Neue"/>
                <a:ea typeface="Helvetica Neue"/>
                <a:cs typeface="Helvetica Neue"/>
              </a:rPr>
              <a:t>browser journeys</a:t>
            </a:r>
          </a:p>
        </p:txBody>
      </p:sp>
      <p:sp>
        <p:nvSpPr>
          <p:cNvPr id="11" name="">
            <a:extLst xmlns:a="http://schemas.openxmlformats.org/drawingml/2006/main">
              <a:ext uri="{FF2B5EF4-FFF2-40B4-BE49-F238E27FC236}">
                <a16:creationId xmlns:a16="http://schemas.microsoft.com/office/drawing/2014/main" id="{2E1D1C5C-5CF8-4E13-AD1D-A3F9772DD2C2}"/>
              </a:ext>
            </a:extLst>
          </p:cNvPr>
          <p:cNvSpPr>
            <a:spLocks xmlns:a="http://schemas.openxmlformats.org/drawingml/2006/main" noGrp="1"/>
          </p:cNvSpPr>
          <p:nvPr/>
        </p:nvSpPr>
        <p:spPr>
          <a:xfrm xmlns:a="http://schemas.openxmlformats.org/drawingml/2006/main">
            <a:off x="609600" y="58293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1706B"/>
                </a:solidFill>
                <a:latin typeface="Helvetica Neue"/>
                <a:ea typeface="Helvetica Neue"/>
                <a:cs typeface="Helvetica Neue"/>
              </a:defRPr>
            </a:pPr>
            <a:r>
              <a:rPr sz="1650" b="0">
                <a:solidFill>
                  <a:srgbClr val="61706B"/>
                </a:solidFill>
                <a:latin typeface="Helvetica Neue"/>
                <a:ea typeface="Helvetica Neue"/>
                <a:cs typeface="Helvetica Neue"/>
              </a:rPr>
              <a:t>Tested prototype • provider recovery and production security remain unverified</a:t>
            </a:r>
          </a:p>
        </p:txBody>
      </p:sp>
    </p:spTree>
    <p:extLst>
      <p:ext uri="{BB962C8B-B14F-4D97-AF65-F5344CB8AC3E}">
        <p14:creationId xmlns:p14="http://schemas.microsoft.com/office/powerpoint/2010/main" val="1772560183"/>
      </p:ext>
    </p:extLst>
  </p:cSld>
</p:sld>
</file>

<file path=ppt/slides/slide8.xml><?xml version="1.0" encoding="utf-8"?>
<p:sld xmlns:p="http://schemas.openxmlformats.org/presentationml/2006/main">
  <p:cSld>
    <p:bg>
      <p:bgPr>
        <a:solidFill xmlns:a="http://schemas.openxmlformats.org/drawingml/2006/main">
          <a:srgbClr val="1920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B8F8D9-B3E3-402D-87ED-A8D286DB47B3}"/>
              </a:ext>
            </a:extLst>
          </p:cNvPr>
          <p:cNvSpPr>
            <a:spLocks xmlns:a="http://schemas.openxmlformats.org/drawingml/2006/main" noGrp="1"/>
          </p:cNvSpPr>
          <p:nvPr/>
        </p:nvSpPr>
        <p:spPr>
          <a:xfrm xmlns:a="http://schemas.openxmlformats.org/drawingml/2006/main">
            <a:off x="609600" y="67627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5F5EF"/>
                </a:solidFill>
                <a:latin typeface="Helvetica Neue"/>
                <a:ea typeface="Helvetica Neue"/>
                <a:cs typeface="Helvetica Neue"/>
              </a:defRPr>
            </a:pPr>
            <a:r>
              <a:rPr sz="2325" b="1">
                <a:solidFill>
                  <a:srgbClr val="F5F5EF"/>
                </a:solidFill>
                <a:latin typeface="Helvetica Neue"/>
                <a:ea typeface="Helvetica Neue"/>
                <a:cs typeface="Helvetica Neue"/>
              </a:rPr>
              <a:t>BLACKOUT PROTOCOL</a:t>
            </a:r>
          </a:p>
        </p:txBody>
      </p:sp>
      <p:sp>
        <p:nvSpPr>
          <p:cNvPr id="2" name="">
            <a:extLst xmlns:a="http://schemas.openxmlformats.org/drawingml/2006/main">
              <a:ext uri="{FF2B5EF4-FFF2-40B4-BE49-F238E27FC236}">
                <a16:creationId xmlns:a16="http://schemas.microsoft.com/office/drawing/2014/main" id="{C7A18031-A93E-4C63-86AF-1B837B0EC275}"/>
              </a:ext>
            </a:extLst>
          </p:cNvPr>
          <p:cNvSpPr>
            <a:spLocks xmlns:a="http://schemas.openxmlformats.org/drawingml/2006/main" noGrp="1"/>
          </p:cNvSpPr>
          <p:nvPr/>
        </p:nvSpPr>
        <p:spPr>
          <a:xfrm xmlns:a="http://schemas.openxmlformats.org/drawingml/2006/main">
            <a:off x="609600" y="2000250"/>
            <a:ext cx="109728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F5F5EF"/>
                </a:solidFill>
                <a:latin typeface="Helvetica Neue"/>
                <a:ea typeface="Helvetica Neue"/>
                <a:cs typeface="Helvetica Neue"/>
              </a:defRPr>
            </a:pPr>
            <a:r>
              <a:rPr sz="5700" b="1">
                <a:solidFill>
                  <a:srgbClr val="F5F5EF"/>
                </a:solidFill>
                <a:latin typeface="Helvetica Neue"/>
                <a:ea typeface="Helvetica Neue"/>
                <a:cs typeface="Helvetica Neue"/>
              </a:rPr>
              <a:t>Find the dead end.</a:t>
            </a:r>
          </a:p>
          <a:p xmlns:a="http://schemas.openxmlformats.org/drawingml/2006/main">
            <a:pPr>
              <a:defRPr sz="5700" b="1">
                <a:solidFill>
                  <a:srgbClr val="F5F5EF"/>
                </a:solidFill>
                <a:latin typeface="Helvetica Neue"/>
                <a:ea typeface="Helvetica Neue"/>
                <a:cs typeface="Helvetica Neue"/>
              </a:defRPr>
            </a:pPr>
            <a:r>
              <a:rPr sz="5700" b="1">
                <a:solidFill>
                  <a:srgbClr val="F5F5EF"/>
                </a:solidFill>
                <a:latin typeface="Helvetica Neue"/>
                <a:ea typeface="Helvetica Neue"/>
                <a:cs typeface="Helvetica Neue"/>
              </a:rPr>
              <a:t>Prepare the way back.</a:t>
            </a:r>
          </a:p>
        </p:txBody>
      </p:sp>
      <p:sp>
        <p:nvSpPr>
          <p:cNvPr id="3" name="">
            <a:extLst xmlns:a="http://schemas.openxmlformats.org/drawingml/2006/main">
              <a:ext uri="{FF2B5EF4-FFF2-40B4-BE49-F238E27FC236}">
                <a16:creationId xmlns:a16="http://schemas.microsoft.com/office/drawing/2014/main" id="{35465B66-77F5-4D99-B8C0-35E231FD5C9D}"/>
              </a:ext>
            </a:extLst>
          </p:cNvPr>
          <p:cNvSpPr>
            <a:spLocks xmlns:a="http://schemas.openxmlformats.org/drawingml/2006/main" noGrp="1"/>
          </p:cNvSpPr>
          <p:nvPr/>
        </p:nvSpPr>
        <p:spPr>
          <a:xfrm xmlns:a="http://schemas.openxmlformats.org/drawingml/2006/main">
            <a:off x="609600" y="45053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EA7961"/>
                </a:solidFill>
                <a:latin typeface="Helvetica Neue"/>
                <a:ea typeface="Helvetica Neue"/>
                <a:cs typeface="Helvetica Neue"/>
              </a:defRPr>
            </a:pPr>
            <a:r>
              <a:rPr sz="2700" b="0">
                <a:solidFill>
                  <a:srgbClr val="EA7961"/>
                </a:solidFill>
                <a:latin typeface="Helvetica Neue"/>
                <a:ea typeface="Helvetica Neue"/>
                <a:cs typeface="Helvetica Neue"/>
              </a:rPr>
              <a:t>A recovery plan your team can act on.</a:t>
            </a:r>
          </a:p>
        </p:txBody>
      </p:sp>
      <p:sp>
        <p:nvSpPr>
          <p:cNvPr id="4" name="">
            <a:extLst xmlns:a="http://schemas.openxmlformats.org/drawingml/2006/main">
              <a:ext uri="{FF2B5EF4-FFF2-40B4-BE49-F238E27FC236}">
                <a16:creationId xmlns:a16="http://schemas.microsoft.com/office/drawing/2014/main" id="{FD87D3B8-2F8F-4F30-8217-187EF88898B0}"/>
              </a:ext>
            </a:extLst>
          </p:cNvPr>
          <p:cNvSpPr>
            <a:spLocks xmlns:a="http://schemas.openxmlformats.org/drawingml/2006/main" noGrp="1"/>
          </p:cNvSpPr>
          <p:nvPr/>
        </p:nvSpPr>
        <p:spPr>
          <a:xfrm xmlns:a="http://schemas.openxmlformats.org/drawingml/2006/main">
            <a:off x="609600" y="5600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8C7BF"/>
                </a:solidFill>
                <a:latin typeface="Helvetica Neue"/>
                <a:ea typeface="Helvetica Neue"/>
                <a:cs typeface="Helvetica Neue"/>
              </a:defRPr>
            </a:pPr>
            <a:r>
              <a:rPr sz="1875" b="0">
                <a:solidFill>
                  <a:srgbClr val="B8C7BF"/>
                </a:solidFill>
                <a:latin typeface="Helvetica Neue"/>
                <a:ea typeface="Helvetica Neue"/>
                <a:cs typeface="Helvetica Neue"/>
                <a:hlinkClick xmlns:r="http://schemas.openxmlformats.org/officeDocument/2006/relationships" r:id="R53a644d3acd4422a"/>
              </a:rPr>
              <a:t>github.com/banany338/BLACKOUT-PROTOCOL</a:t>
            </a:r>
          </a:p>
        </p:txBody>
      </p:sp>
      <p:sp>
        <p:nvSpPr>
          <p:cNvPr id="5" name="">
            <a:extLst xmlns:a="http://schemas.openxmlformats.org/drawingml/2006/main">
              <a:ext uri="{FF2B5EF4-FFF2-40B4-BE49-F238E27FC236}">
                <a16:creationId xmlns:a16="http://schemas.microsoft.com/office/drawing/2014/main" id="{88A558F5-968E-4D1C-A75C-954C13A2393F}"/>
              </a:ext>
            </a:extLst>
          </p:cNvPr>
          <p:cNvSpPr>
            <a:spLocks xmlns:a="http://schemas.openxmlformats.org/drawingml/2006/main" noGrp="1"/>
          </p:cNvSpPr>
          <p:nvPr/>
        </p:nvSpPr>
        <p:spPr>
          <a:xfrm xmlns:a="http://schemas.openxmlformats.org/drawingml/2006/main">
            <a:off x="6096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CB7B1"/>
                </a:solidFill>
                <a:latin typeface="Helvetica Neue"/>
                <a:ea typeface="Helvetica Neue"/>
                <a:cs typeface="Helvetica Neue"/>
              </a:defRPr>
            </a:pPr>
            <a:r>
              <a:rPr sz="1275" b="0">
                <a:solidFill>
                  <a:srgbClr val="ACB7B1"/>
                </a:solidFill>
                <a:latin typeface="Helvetica Neue"/>
                <a:ea typeface="Helvetica Neue"/>
                <a:cs typeface="Helvetica Neue"/>
              </a:rPr>
              <a:t>AI-assisted development • deterministic analysis • example data shown</a:t>
            </a:r>
          </a:p>
        </p:txBody>
      </p:sp>
    </p:spTree>
    <p:extLst>
      <p:ext uri="{BB962C8B-B14F-4D97-AF65-F5344CB8AC3E}">
        <p14:creationId xmlns:p14="http://schemas.microsoft.com/office/powerpoint/2010/main" val="1329249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2026-10-04T07:55:22.3290000Z</dcterms:created>
  <dcterms:modified xsi:type="dcterms:W3CDTF">2026-10-04T07:55:22.3290000Z</dcterms:modified>
</coreProperties>
</file>